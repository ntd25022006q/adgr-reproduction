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8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595959"/>
                </a:solidFill>
                <a:latin typeface="Arial"/>
              </a:defRPr>
            </a:pPr>
            <a:r>
              <a:t>1/18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EB8C8"/>
                </a:solidFill>
                <a:latin typeface="Arial"/>
              </a:defRPr>
            </a:pPr>
            <a:r>
              <a:t>TÁI HIỆN ĐỘC LẬP HỆ THỐNG ADGR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  <a:latin typeface="Arial"/>
              </a:defRPr>
            </a:pPr>
            <a:r>
              <a:t>GraphRAG y khoa tiếng Việt:</a:t>
            </a:r>
            <a:br/>
            <a:r>
              <a:t>từ bài báo đến số liệu chạy thật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319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>
                <a:solidFill>
                  <a:srgbClr val="FFFFFF"/>
                </a:solidFill>
                <a:latin typeface="Arial"/>
              </a:defRPr>
            </a:pPr>
            <a:r>
              <a:t>52.578 entity  •  106.279 relation  •  300 câu hỏi  •  8 bảng  •  11 hình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846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2EB8C8"/>
                </a:solidFill>
                <a:latin typeface="Arial"/>
              </a:defRPr>
            </a:pPr>
            <a:r>
              <a:t>Báo cáo chi tiết: report_vi.pdf  •  Mã nguồn + số liệu: github.com/ntd25022006q/adgr-reproduction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595959"/>
                </a:solidFill>
                <a:latin typeface="Arial"/>
              </a:defRPr>
            </a:pPr>
            <a:r>
              <a:t>2/18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2EB8C8"/>
                </a:solidFill>
                <a:latin typeface="Arial"/>
              </a:defRPr>
            </a:pPr>
            <a:r>
              <a:t>BỐI CẢNH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F3864"/>
                </a:solidFill>
                <a:latin typeface="Arial"/>
              </a:defRPr>
            </a:pPr>
            <a:r>
              <a:t>ADGR là gì? — 3 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>
                <a:solidFill>
                  <a:srgbClr val="595959"/>
                </a:solidFill>
                <a:latin typeface="Arial"/>
              </a:defRPr>
            </a:pPr>
            <a:r>
              <a:t>1. Tìm neo lai: vừa khớp chữ (BM25) vừa gần nghĩa (dense) — cả hai cùng thấy thì cộng điểm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060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>
                <a:solidFill>
                  <a:srgbClr val="595959"/>
                </a:solidFill>
                <a:latin typeface="Arial"/>
              </a:defRPr>
            </a:pPr>
            <a:r>
              <a:t>2. Lọc cạnh theo câu hỏi: mở rộng đồ thị có kiểm soát, không lôi cả xóm na ná vào gây nhiễu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3832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>
                <a:solidFill>
                  <a:srgbClr val="595959"/>
                </a:solidFill>
                <a:latin typeface="Arial"/>
              </a:defRPr>
            </a:pPr>
            <a:r>
              <a:t>3. Ngữ cảnh gọn mà trúng: ít token hơn 67% so với baseline mà điểm vẫn cao nhất (RAGAS 0,8792)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1605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>
                <a:solidFill>
                  <a:srgbClr val="595959"/>
                </a:solidFill>
                <a:latin typeface="Arial"/>
              </a:defRPr>
            </a:pPr>
            <a:r>
              <a:t>Đóng góp của paper: framework ADGR + tài nguyên ViMedGraph công khai (1.932 tài liệu, 17.236 chunk)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595959"/>
                </a:solidFill>
                <a:latin typeface="Arial"/>
              </a:defRPr>
            </a:pPr>
            <a:r>
              <a:t>3/18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2EB8C8"/>
                </a:solidFill>
                <a:latin typeface="Arial"/>
              </a:defRPr>
            </a:pPr>
            <a:r>
              <a:t>PHẠM VI TÁI HIỆN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F3864"/>
                </a:solidFill>
                <a:latin typeface="Arial"/>
              </a:defRPr>
            </a:pPr>
            <a:r>
              <a:t>Dựng lại toàn bộ = 7 khối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3736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595959"/>
                </a:solidFill>
                <a:latin typeface="Arial"/>
              </a:defRPr>
            </a:pPr>
            <a:r>
              <a:t>1. Corpus — tải 1.934 bài báo y khoa (5 link chết, cứu 4, ghi rõ)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377439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595959"/>
                </a:solidFill>
                <a:latin typeface="Arial"/>
              </a:defRPr>
            </a:pPr>
            <a:r>
              <a:t>2. Chunking — code H2 của tác giả → 15.837 chunk (91,9% paper)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0175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595959"/>
                </a:solidFill>
                <a:latin typeface="Arial"/>
              </a:defRPr>
            </a:pPr>
            <a:r>
              <a:t>3. Knowledge graph — Qwen2.5-14B rút 52.578 entity / 106.279 relation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657599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595959"/>
                </a:solidFill>
                <a:latin typeface="Arial"/>
              </a:defRPr>
            </a:pPr>
            <a:r>
              <a:t>4. Retrieval — 300 câu × 5 phiên bản (bản đủ + 4 bản tắt từng module)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297679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595959"/>
                </a:solidFill>
                <a:latin typeface="Arial"/>
              </a:defRPr>
            </a:pPr>
            <a:r>
              <a:t>5. Sinh câu trả lời — Qwen2.5-14B, temp 0 (cùng input → cùng output)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93776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595959"/>
                </a:solidFill>
                <a:latin typeface="Arial"/>
              </a:defRPr>
            </a:pPr>
            <a:r>
              <a:t>6. Chấm điểm — Hit/MRR/nDCG + RAGAS + giám khảo AI 4 chiều × 5 lượt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5778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595959"/>
                </a:solidFill>
                <a:latin typeface="Arial"/>
              </a:defRPr>
            </a:pPr>
            <a:r>
              <a:t>7. Tổng hợp — 8 bảng số + 11 hình + báo cáo (mọi số truy được file gốc)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595959"/>
                </a:solidFill>
                <a:latin typeface="Arial"/>
              </a:defRPr>
            </a:pPr>
            <a:r>
              <a:t>4/18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2EB8C8"/>
                </a:solidFill>
                <a:latin typeface="Arial"/>
              </a:defRPr>
            </a:pPr>
            <a:r>
              <a:t>BẢNG 1 — QUY MÔ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3864"/>
                </a:solidFill>
                <a:latin typeface="Arial"/>
              </a:defRPr>
            </a:pPr>
            <a:r>
              <a:t>Đồ thị tri thức: cùng tầm paper</a:t>
            </a:r>
          </a:p>
        </p:txBody>
      </p:sp>
      <p:pic>
        <p:nvPicPr>
          <p:cNvPr id="5" name="Picture 4" descr="fig_tab1_sca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37360"/>
            <a:ext cx="6766560" cy="347994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0" y="1828800"/>
            <a:ext cx="3474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>
                <a:solidFill>
                  <a:srgbClr val="2EB8C8"/>
                </a:solidFill>
                <a:latin typeface="Arial"/>
              </a:defRPr>
            </a:pPr>
            <a:r>
              <a:t>92–107%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0" y="3291840"/>
            <a:ext cx="37490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0">
                <a:solidFill>
                  <a:srgbClr val="595959"/>
                </a:solidFill>
                <a:latin typeface="Arial"/>
              </a:defRPr>
            </a:pPr>
            <a:r>
              <a:t>• 52.578 entity / 106.279 relation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0" y="3895344"/>
            <a:ext cx="37490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0">
                <a:solidFill>
                  <a:srgbClr val="595959"/>
                </a:solidFill>
                <a:latin typeface="Arial"/>
              </a:defRPr>
            </a:pPr>
            <a:r>
              <a:t>(paper: 49.274 / 106.666)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0" y="4498848"/>
            <a:ext cx="37490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0">
                <a:solidFill>
                  <a:srgbClr val="595959"/>
                </a:solidFill>
                <a:latin typeface="Arial"/>
              </a:defRPr>
            </a:pPr>
            <a:r>
              <a:t>• 15.837 chunk (91,9%)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595959"/>
                </a:solidFill>
                <a:latin typeface="Arial"/>
              </a:defRPr>
            </a:pPr>
            <a:r>
              <a:t>5/18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2EB8C8"/>
                </a:solidFill>
                <a:latin typeface="Arial"/>
              </a:defRPr>
            </a:pPr>
            <a:r>
              <a:t>BẢNG 1 — CHẤT LƯỢNG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3864"/>
                </a:solidFill>
                <a:latin typeface="Arial"/>
              </a:defRPr>
            </a:pPr>
            <a:r>
              <a:t>Hố duy nhất nằm ở LCR</a:t>
            </a:r>
          </a:p>
        </p:txBody>
      </p:sp>
      <p:pic>
        <p:nvPicPr>
          <p:cNvPr id="5" name="Picture 4" descr="fig_tab1_qua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37360"/>
            <a:ext cx="6766560" cy="353943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0" y="1828800"/>
            <a:ext cx="3474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>
                <a:solidFill>
                  <a:srgbClr val="2EB8C8"/>
                </a:solidFill>
                <a:latin typeface="Arial"/>
              </a:defRPr>
            </a:pPr>
            <a:r>
              <a:t>−9pp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0" y="3291840"/>
            <a:ext cx="37490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0">
                <a:solidFill>
                  <a:srgbClr val="595959"/>
                </a:solidFill>
                <a:latin typeface="Arial"/>
              </a:defRPr>
            </a:pPr>
            <a:r>
              <a:t>• DSER 0,913 / SCR 0,884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0" y="3895344"/>
            <a:ext cx="37490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0">
                <a:solidFill>
                  <a:srgbClr val="595959"/>
                </a:solidFill>
                <a:latin typeface="Arial"/>
              </a:defRPr>
            </a:pPr>
            <a:r>
              <a:t>• LCR 0,816 (paper 0,906)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0" y="4498848"/>
            <a:ext cx="37490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0">
                <a:solidFill>
                  <a:srgbClr val="595959"/>
                </a:solidFill>
                <a:latin typeface="Arial"/>
              </a:defRPr>
            </a:pPr>
            <a:r>
              <a:t>• Chunk to ôm nhiều chủ đề rời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595959"/>
                </a:solidFill>
                <a:latin typeface="Arial"/>
              </a:defRPr>
            </a:pPr>
            <a:r>
              <a:t>6/18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2EB8C8"/>
                </a:solidFill>
                <a:latin typeface="Arial"/>
              </a:defRPr>
            </a:pPr>
            <a:r>
              <a:t>BẰNG CHỨNG ĐO ĐƯỢC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3864"/>
                </a:solidFill>
                <a:latin typeface="Arial"/>
              </a:defRPr>
            </a:pPr>
            <a:r>
              <a:t>Vì sao chunk to? Máy trích không tham</a:t>
            </a:r>
          </a:p>
        </p:txBody>
      </p:sp>
      <p:pic>
        <p:nvPicPr>
          <p:cNvPr id="5" name="Picture 4" descr="fig_ra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37360"/>
            <a:ext cx="6766560" cy="36088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0" y="1828800"/>
            <a:ext cx="3474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>
                <a:solidFill>
                  <a:srgbClr val="2EB8C8"/>
                </a:solidFill>
                <a:latin typeface="Arial"/>
              </a:defRPr>
            </a:pPr>
            <a:r>
              <a:t>3×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0" y="3291840"/>
            <a:ext cx="37490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0">
                <a:solidFill>
                  <a:srgbClr val="595959"/>
                </a:solidFill>
                <a:latin typeface="Arial"/>
              </a:defRPr>
            </a:pPr>
            <a:r>
              <a:t>• Ta ~9,4 lượt/chunk, gấp 3 paper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0" y="3895344"/>
            <a:ext cx="37490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0">
                <a:solidFill>
                  <a:srgbClr val="595959"/>
                </a:solidFill>
                <a:latin typeface="Arial"/>
              </a:defRPr>
            </a:pPr>
            <a:r>
              <a:t>• Chạy trên chunk kiểu tác giả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0" y="4498848"/>
            <a:ext cx="37490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0">
                <a:solidFill>
                  <a:srgbClr val="595959"/>
                </a:solidFill>
                <a:latin typeface="Arial"/>
              </a:defRPr>
            </a:pPr>
            <a:r>
              <a:t>  thì khớp paper ngay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595959"/>
                </a:solidFill>
                <a:latin typeface="Arial"/>
              </a:defRPr>
            </a:pPr>
            <a:r>
              <a:t>7/18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2EB8C8"/>
                </a:solidFill>
                <a:latin typeface="Arial"/>
              </a:defRPr>
            </a:pPr>
            <a:r>
              <a:t>BẢNG 3 — TÌM KIẾM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3864"/>
                </a:solidFill>
                <a:latin typeface="Arial"/>
              </a:defRPr>
            </a:pPr>
            <a:r>
              <a:t>Bám paper từ top-1 đến top-10</a:t>
            </a:r>
          </a:p>
        </p:txBody>
      </p:sp>
      <p:pic>
        <p:nvPicPr>
          <p:cNvPr id="5" name="Picture 4" descr="fig_tab3_h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37360"/>
            <a:ext cx="6766560" cy="353943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0" y="1828800"/>
            <a:ext cx="3474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>
                <a:solidFill>
                  <a:srgbClr val="2EB8C8"/>
                </a:solidFill>
                <a:latin typeface="Arial"/>
              </a:defRPr>
            </a:pPr>
            <a:r>
              <a:t>0,79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0" y="3291840"/>
            <a:ext cx="37490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0">
                <a:solidFill>
                  <a:srgbClr val="595959"/>
                </a:solidFill>
                <a:latin typeface="Arial"/>
              </a:defRPr>
            </a:pPr>
            <a:r>
              <a:t>• Hit@10: 0,79 / 0,68 (paper 0,71)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0" y="3895344"/>
            <a:ext cx="37490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0">
                <a:solidFill>
                  <a:srgbClr val="595959"/>
                </a:solidFill>
                <a:latin typeface="Arial"/>
              </a:defRPr>
            </a:pPr>
            <a:r>
              <a:t>• Hit@1 yếu thật nhưng hội tụ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0" y="4498848"/>
            <a:ext cx="37490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0">
                <a:solidFill>
                  <a:srgbClr val="595959"/>
                </a:solidFill>
                <a:latin typeface="Arial"/>
              </a:defRPr>
            </a:pPr>
            <a:r>
              <a:t>  từ Hit@5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595959"/>
                </a:solidFill>
                <a:latin typeface="Arial"/>
              </a:defRPr>
            </a:pPr>
            <a:r>
              <a:t>8/18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2EB8C8"/>
                </a:solidFill>
                <a:latin typeface="Arial"/>
              </a:defRPr>
            </a:pPr>
            <a:r>
              <a:t>BẢNG 4 — RAGAS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3864"/>
                </a:solidFill>
                <a:latin typeface="Arial"/>
              </a:defRPr>
            </a:pPr>
            <a:r>
              <a:t>Hố nằm đúng 1 ô duy nhất</a:t>
            </a:r>
          </a:p>
        </p:txBody>
      </p:sp>
      <p:pic>
        <p:nvPicPr>
          <p:cNvPr id="5" name="Picture 4" descr="fig_tab4_rag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37360"/>
            <a:ext cx="6766560" cy="347994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0" y="1828800"/>
            <a:ext cx="3474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>
                <a:solidFill>
                  <a:srgbClr val="2EB8C8"/>
                </a:solidFill>
                <a:latin typeface="Arial"/>
              </a:defRPr>
            </a:pPr>
            <a:r>
              <a:t>1 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0" y="3291840"/>
            <a:ext cx="37490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0">
                <a:solidFill>
                  <a:srgbClr val="595959"/>
                </a:solidFill>
                <a:latin typeface="Arial"/>
              </a:defRPr>
            </a:pPr>
            <a:r>
              <a:t>• Hai cặp bám nhau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0" y="3895344"/>
            <a:ext cx="37490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0">
                <a:solidFill>
                  <a:srgbClr val="595959"/>
                </a:solidFill>
                <a:latin typeface="Arial"/>
              </a:defRPr>
            </a:pPr>
            <a:r>
              <a:t>• Chỉ faithfulness tách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0" y="4498848"/>
            <a:ext cx="37490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0">
                <a:solidFill>
                  <a:srgbClr val="595959"/>
                </a:solidFill>
                <a:latin typeface="Arial"/>
              </a:defRPr>
            </a:pPr>
            <a:r>
              <a:t>• RAGAS-chuẩn: 0,66 / 0,64 / 0,86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595959"/>
                </a:solidFill>
                <a:latin typeface="Arial"/>
              </a:defRPr>
            </a:pPr>
            <a:r>
              <a:t>9/18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2EB8C8"/>
                </a:solidFill>
                <a:latin typeface="Arial"/>
              </a:defRPr>
            </a:pPr>
            <a:r>
              <a:t>BẢNG 4 — MỔ HỐ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3864"/>
                </a:solidFill>
                <a:latin typeface="Arial"/>
              </a:defRPr>
            </a:pPr>
            <a:r>
              <a:t>Ba lớp nguyên nhân, đều đã đo</a:t>
            </a:r>
          </a:p>
        </p:txBody>
      </p:sp>
      <p:pic>
        <p:nvPicPr>
          <p:cNvPr id="5" name="Picture 4" descr="fig_faith_g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37360"/>
            <a:ext cx="6766560" cy="353943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0" y="1828800"/>
            <a:ext cx="3474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>
                <a:solidFill>
                  <a:srgbClr val="2EB8C8"/>
                </a:solidFill>
                <a:latin typeface="Arial"/>
              </a:defRPr>
            </a:pPr>
            <a:r>
              <a:t>0,41→0,77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0" y="3291840"/>
            <a:ext cx="37490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0">
                <a:solidFill>
                  <a:srgbClr val="595959"/>
                </a:solidFill>
                <a:latin typeface="Arial"/>
              </a:defRPr>
            </a:pPr>
            <a:r>
              <a:t>• Câu ngắn khớp paper (máy tốt)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0" y="3895344"/>
            <a:ext cx="37490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0">
                <a:solidFill>
                  <a:srgbClr val="595959"/>
                </a:solidFill>
                <a:latin typeface="Arial"/>
              </a:defRPr>
            </a:pPr>
            <a:r>
              <a:t>• 75% hố do chấm tắt 1 bước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0" y="4498848"/>
            <a:ext cx="37490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0">
                <a:solidFill>
                  <a:srgbClr val="595959"/>
                </a:solidFill>
                <a:latin typeface="Arial"/>
              </a:defRPr>
            </a:pPr>
            <a:r>
              <a:t>• Còn lại: giám khảo khó hơn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595959"/>
                </a:solidFill>
                <a:latin typeface="Arial"/>
              </a:defRPr>
            </a:pPr>
            <a:r>
              <a:t>10/18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2EB8C8"/>
                </a:solidFill>
                <a:latin typeface="Arial"/>
              </a:defRPr>
            </a:pPr>
            <a:r>
              <a:t>BẢNG 5 — XẾP HẠNG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3864"/>
                </a:solidFill>
                <a:latin typeface="Arial"/>
              </a:defRPr>
            </a:pPr>
            <a:r>
              <a:t>Cao nhất và ổn định, giữ hạng cả 2 prompt</a:t>
            </a:r>
          </a:p>
        </p:txBody>
      </p:sp>
      <p:pic>
        <p:nvPicPr>
          <p:cNvPr id="5" name="Picture 4" descr="fig_tab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37360"/>
            <a:ext cx="6766560" cy="3044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0" y="1828800"/>
            <a:ext cx="3474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>
                <a:solidFill>
                  <a:srgbClr val="2EB8C8"/>
                </a:solidFill>
                <a:latin typeface="Arial"/>
              </a:defRPr>
            </a:pPr>
            <a:r>
              <a:t>0,858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0" y="3291840"/>
            <a:ext cx="37490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0">
                <a:solidFill>
                  <a:srgbClr val="595959"/>
                </a:solidFill>
                <a:latin typeface="Arial"/>
              </a:defRPr>
            </a:pPr>
            <a:r>
              <a:t>• ADGR 0,858 ≈ Mix &gt; Hybrid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0" y="3895344"/>
            <a:ext cx="37490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0">
                <a:solidFill>
                  <a:srgbClr val="595959"/>
                </a:solidFill>
                <a:latin typeface="Arial"/>
              </a:defRPr>
            </a:pPr>
            <a:r>
              <a:t>• SEM 0,046 (ngắn thứ hai)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0" y="4498848"/>
            <a:ext cx="37490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0">
                <a:solidFill>
                  <a:srgbClr val="595959"/>
                </a:solidFill>
                <a:latin typeface="Arial"/>
              </a:defRPr>
            </a:pPr>
            <a:r>
              <a:t>• 0 đảo hạng trên 10 phương pháp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595959"/>
                </a:solidFill>
                <a:latin typeface="Arial"/>
              </a:defRPr>
            </a:pPr>
            <a:r>
              <a:t>11/18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2EB8C8"/>
                </a:solidFill>
                <a:latin typeface="Arial"/>
              </a:defRPr>
            </a:pPr>
            <a:r>
              <a:t>BẢNG 5 — PROMPT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3864"/>
                </a:solidFill>
                <a:latin typeface="Arial"/>
              </a:defRPr>
            </a:pPr>
            <a:r>
              <a:t>Prompt gốc phạt dài dòng đúng thiết kế</a:t>
            </a:r>
          </a:p>
        </p:txBody>
      </p:sp>
      <p:pic>
        <p:nvPicPr>
          <p:cNvPr id="5" name="Picture 4" descr="fig_tab5_prom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37360"/>
            <a:ext cx="6766560" cy="3044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0" y="1828800"/>
            <a:ext cx="3474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>
                <a:solidFill>
                  <a:srgbClr val="2EB8C8"/>
                </a:solidFill>
                <a:latin typeface="Arial"/>
              </a:defRPr>
            </a:pPr>
            <a:r>
              <a:t>−0,08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0" y="3291840"/>
            <a:ext cx="37490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0">
                <a:solidFill>
                  <a:srgbClr val="595959"/>
                </a:solidFill>
                <a:latin typeface="Arial"/>
              </a:defRPr>
            </a:pPr>
            <a:r>
              <a:t>• Thấp hơn ~0,08 (ADGR 0,778)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0" y="3895344"/>
            <a:ext cx="37490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0">
                <a:solidFill>
                  <a:srgbClr val="595959"/>
                </a:solidFill>
                <a:latin typeface="Arial"/>
              </a:defRPr>
            </a:pPr>
            <a:r>
              <a:t>• Nhóm dài (140 / 104 từ)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0" y="4498848"/>
            <a:ext cx="37490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0">
                <a:solidFill>
                  <a:srgbClr val="595959"/>
                </a:solidFill>
                <a:latin typeface="Arial"/>
              </a:defRPr>
            </a:pPr>
            <a:r>
              <a:t>  rớt mạnh nhất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595959"/>
                </a:solidFill>
                <a:latin typeface="Arial"/>
              </a:defRPr>
            </a:pPr>
            <a:r>
              <a:t>12/18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2EB8C8"/>
                </a:solidFill>
                <a:latin typeface="Arial"/>
              </a:defRPr>
            </a:pPr>
            <a:r>
              <a:t>BẢNG 6 — CHI PHÍ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3864"/>
                </a:solidFill>
                <a:latin typeface="Arial"/>
              </a:defRPr>
            </a:pPr>
            <a:r>
              <a:t>Rẻ hơn paper mọi mặt</a:t>
            </a:r>
          </a:p>
        </p:txBody>
      </p:sp>
      <p:pic>
        <p:nvPicPr>
          <p:cNvPr id="5" name="Picture 4" descr="fig_tab6_e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37360"/>
            <a:ext cx="6766560" cy="287578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0" y="1828800"/>
            <a:ext cx="3474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>
                <a:solidFill>
                  <a:srgbClr val="2EB8C8"/>
                </a:solidFill>
                <a:latin typeface="Arial"/>
              </a:defRPr>
            </a:pPr>
            <a:r>
              <a:t>−23%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0" y="3291840"/>
            <a:ext cx="37490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0">
                <a:solidFill>
                  <a:srgbClr val="595959"/>
                </a:solidFill>
                <a:latin typeface="Arial"/>
              </a:defRPr>
            </a:pPr>
            <a:r>
              <a:t>• Token 3.441 vs 4.490 (−23%)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0" y="3895344"/>
            <a:ext cx="37490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0">
                <a:solidFill>
                  <a:srgbClr val="595959"/>
                </a:solidFill>
                <a:latin typeface="Arial"/>
              </a:defRPr>
            </a:pPr>
            <a:r>
              <a:t>• Tổng 9,85s → 8,18s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0" y="4498848"/>
            <a:ext cx="37490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0">
                <a:solidFill>
                  <a:srgbClr val="595959"/>
                </a:solidFill>
                <a:latin typeface="Arial"/>
              </a:defRPr>
            </a:pPr>
            <a:r>
              <a:t>• Đúng đánh đổi ADGR quảng cáo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595959"/>
                </a:solidFill>
                <a:latin typeface="Arial"/>
              </a:defRPr>
            </a:pPr>
            <a:r>
              <a:t>13/18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2EB8C8"/>
                </a:solidFill>
                <a:latin typeface="Arial"/>
              </a:defRPr>
            </a:pPr>
            <a:r>
              <a:t>BẢNG 7 — ABLATION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3864"/>
                </a:solidFill>
                <a:latin typeface="Arial"/>
              </a:defRPr>
            </a:pPr>
            <a:r>
              <a:t>Tắt module nào cũng đau đúng thứ tự</a:t>
            </a:r>
          </a:p>
        </p:txBody>
      </p:sp>
      <p:pic>
        <p:nvPicPr>
          <p:cNvPr id="5" name="Picture 4" descr="fig_tab7_ab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37360"/>
            <a:ext cx="6766560" cy="321411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0" y="1828800"/>
            <a:ext cx="3474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>
                <a:solidFill>
                  <a:srgbClr val="2EB8C8"/>
                </a:solidFill>
                <a:latin typeface="Arial"/>
              </a:defRPr>
            </a:pPr>
            <a:r>
              <a:t>0,60→0,88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0" y="3291840"/>
            <a:ext cx="37490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0">
                <a:solidFill>
                  <a:srgbClr val="595959"/>
                </a:solidFill>
                <a:latin typeface="Arial"/>
              </a:defRPr>
            </a:pPr>
            <a:r>
              <a:t>• Paper: 0,60 → 0,88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0" y="3895344"/>
            <a:ext cx="37490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0">
                <a:solidFill>
                  <a:srgbClr val="595959"/>
                </a:solidFill>
                <a:latin typeface="Arial"/>
              </a:defRPr>
            </a:pPr>
            <a:r>
              <a:t>• Anchor quan trọng nhất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0" y="4498848"/>
            <a:ext cx="37490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0">
                <a:solidFill>
                  <a:srgbClr val="595959"/>
                </a:solidFill>
                <a:latin typeface="Arial"/>
              </a:defRPr>
            </a:pPr>
            <a:r>
              <a:t>• Hình dáng độ chênh khớp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595959"/>
                </a:solidFill>
                <a:latin typeface="Arial"/>
              </a:defRPr>
            </a:pPr>
            <a:r>
              <a:t>14/18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2EB8C8"/>
                </a:solidFill>
                <a:latin typeface="Arial"/>
              </a:defRPr>
            </a:pPr>
            <a:r>
              <a:t>BẢNG 8 — CASE AESCIN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3864"/>
                </a:solidFill>
                <a:latin typeface="Arial"/>
              </a:defRPr>
            </a:pPr>
            <a:r>
              <a:t>Gọn mà trúng (trục log)</a:t>
            </a:r>
          </a:p>
        </p:txBody>
      </p:sp>
      <p:pic>
        <p:nvPicPr>
          <p:cNvPr id="5" name="Picture 4" descr="fig_tab8_c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37360"/>
            <a:ext cx="6766560" cy="347994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0" y="1828800"/>
            <a:ext cx="3474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>
                <a:solidFill>
                  <a:srgbClr val="2EB8C8"/>
                </a:solidFill>
                <a:latin typeface="Arial"/>
              </a:defRPr>
            </a:pPr>
            <a:r>
              <a:t>139→57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0" y="3291840"/>
            <a:ext cx="37490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0">
                <a:solidFill>
                  <a:srgbClr val="595959"/>
                </a:solidFill>
                <a:latin typeface="Arial"/>
              </a:defRPr>
            </a:pPr>
            <a:r>
              <a:t>• Hybrid 139 (lẫn thuốc khác!)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0" y="3895344"/>
            <a:ext cx="37490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0">
                <a:solidFill>
                  <a:srgbClr val="595959"/>
                </a:solidFill>
                <a:latin typeface="Arial"/>
              </a:defRPr>
            </a:pPr>
            <a:r>
              <a:t>• ADGR giữ đúng 3 cái cần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0" y="4498848"/>
            <a:ext cx="37490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0">
                <a:solidFill>
                  <a:srgbClr val="595959"/>
                </a:solidFill>
                <a:latin typeface="Arial"/>
              </a:defRPr>
            </a:pPr>
            <a:r>
              <a:t>• Ta: 12–14 / 39–41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595959"/>
                </a:solidFill>
                <a:latin typeface="Arial"/>
              </a:defRPr>
            </a:pPr>
            <a:r>
              <a:t>15/18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2EB8C8"/>
                </a:solidFill>
                <a:latin typeface="Arial"/>
              </a:defRPr>
            </a:pPr>
            <a:r>
              <a:t>TỔNG KẾT SỐ LIỆU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1F3864"/>
                </a:solidFill>
                <a:latin typeface="Arial"/>
              </a:defRPr>
            </a:pPr>
            <a:r>
              <a:t>9 — 5 — 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3474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600" b="1">
                <a:solidFill>
                  <a:srgbClr val="2EB8C8"/>
                </a:solidFill>
                <a:latin typeface="Arial"/>
              </a:defRPr>
            </a:pPr>
            <a: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2011680"/>
            <a:ext cx="3474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600" b="1">
                <a:solidFill>
                  <a:srgbClr val="2EB8C8"/>
                </a:solidFill>
                <a:latin typeface="Arial"/>
              </a:defRPr>
            </a:pPr>
            <a: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2011680"/>
            <a:ext cx="3474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600" b="1">
                <a:solidFill>
                  <a:srgbClr val="2EB8C8"/>
                </a:solidFill>
                <a:latin typeface="Arial"/>
              </a:defRPr>
            </a:pPr>
            <a:r>
              <a:t>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9319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>
                <a:solidFill>
                  <a:srgbClr val="595959"/>
                </a:solidFill>
                <a:latin typeface="Arial"/>
              </a:defRPr>
            </a:pPr>
            <a:r>
              <a:t>KHỚP / GẦN / VƯỢT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932834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>
                <a:solidFill>
                  <a:srgbClr val="595959"/>
                </a:solidFill>
                <a:latin typeface="Arial"/>
              </a:defRPr>
            </a:pPr>
            <a:r>
              <a:t>GIẢI THÍCH ĐƯỢC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933748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>
                <a:solidFill>
                  <a:srgbClr val="595959"/>
                </a:solidFill>
                <a:latin typeface="Arial"/>
              </a:defRPr>
            </a:pPr>
            <a:r>
              <a:t>KHÔNG GIẢI THÍCH ĐƯỢC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12064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595959"/>
                </a:solidFill>
                <a:latin typeface="Arial"/>
              </a:defRPr>
            </a:pPr>
            <a:r>
              <a:t>Định nghĩa tái hiện thành công: không đòi số giống hệt — chỉ đòi chênh lệch nào cũng có nguyên nhân đã đo.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595959"/>
                </a:solidFill>
                <a:latin typeface="Arial"/>
              </a:defRPr>
            </a:pPr>
            <a:r>
              <a:t>16/18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2EB8C8"/>
                </a:solidFill>
                <a:latin typeface="Arial"/>
              </a:defRPr>
            </a:pPr>
            <a:r>
              <a:t>TRUNG THỰC KHOA HỌC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F3864"/>
                </a:solidFill>
                <a:latin typeface="Arial"/>
              </a:defRPr>
            </a:pPr>
            <a:r>
              <a:t>Giống paper ở đâu? Khác ở đâu? Giới hạn nào?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0">
                <a:solidFill>
                  <a:srgbClr val="595959"/>
                </a:solidFill>
                <a:latin typeface="Arial"/>
              </a:defRPr>
            </a:pPr>
            <a:r>
              <a:t>GIỐNG (paper Sec 5.1): Qwen2.5-14B • embeddinggemma • Qwen3-Reranker • vLLM • temp 0 • chunker H2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5176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0">
                <a:solidFill>
                  <a:srgbClr val="595959"/>
                </a:solidFill>
                <a:latin typeface="Arial"/>
              </a:defRPr>
            </a:pPr>
            <a:r>
              <a:t>KHÁC: giám khảo solar thay GPT-5.5 • gold chấm tay thay bằng 2 proxy • 7 standalone miễn phí • chấm tắt 1 bước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4747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0">
                <a:solidFill>
                  <a:srgbClr val="595959"/>
                </a:solidFill>
                <a:latin typeface="Arial"/>
              </a:defRPr>
            </a:pPr>
            <a:r>
              <a:t>GIỚI HẠN: LCR 0,82 (chunk to) • đồng thuận giám khảo κ 0,19 • top-K cố định chưa thích ứng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595959"/>
                </a:solidFill>
                <a:latin typeface="Arial"/>
              </a:defRPr>
            </a:pPr>
            <a:r>
              <a:t>17/18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2EB8C8"/>
                </a:solidFill>
                <a:latin typeface="Arial"/>
              </a:defRPr>
            </a:pPr>
            <a:r>
              <a:t>HƯỚNG ĐI TIẾP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F3864"/>
                </a:solidFill>
                <a:latin typeface="Arial"/>
              </a:defRPr>
            </a:pPr>
            <a:r>
              <a:t>Giai đoạn 2: ~15h GPU + ~$5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>
                <a:solidFill>
                  <a:srgbClr val="595959"/>
                </a:solidFill>
                <a:latin typeface="Arial"/>
              </a:defRPr>
            </a:pPr>
            <a:r>
              <a:t>1. Pipeline thích ứng theo câu hỏi (~4h + ~$1) — câu dễ bỏ qua đồ thị, rẻ hơn ~10 lần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060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>
                <a:solidFill>
                  <a:srgbClr val="595959"/>
                </a:solidFill>
                <a:latin typeface="Arial"/>
              </a:defRPr>
            </a:pPr>
            <a:r>
              <a:t>2. Trộn hạng thay vì xếp hạng đè (~3h) — giữ cả hai tín hiệu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3832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>
                <a:solidFill>
                  <a:srgbClr val="595959"/>
                </a:solidFill>
                <a:latin typeface="Arial"/>
              </a:defRPr>
            </a:pPr>
            <a:r>
              <a:t>3. Dừng khi đủ bằng chứng (~5h) — thay top-K cố định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1605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>
                <a:solidFill>
                  <a:srgbClr val="595959"/>
                </a:solidFill>
                <a:latin typeface="Arial"/>
              </a:defRPr>
            </a:pPr>
            <a:r>
              <a:t>4. Khống chế độ dài câu trả lời (~4h) — câu ngắn đã khớp paper 0,89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8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595959"/>
                </a:solidFill>
                <a:latin typeface="Arial"/>
              </a:defRPr>
            </a:pPr>
            <a:r>
              <a:t>18/18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Arial"/>
              </a:defRPr>
            </a:pPr>
            <a:r>
              <a:t>Đúng cơ chế, đúng thứ hạng, đúng hướng ablation — chênh lệch nào cũng có nguyên nhân đã đo.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8404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>
                <a:solidFill>
                  <a:srgbClr val="2EB8C8"/>
                </a:solidFill>
                <a:latin typeface="Arial"/>
              </a:defRPr>
            </a:pPr>
            <a:r>
              <a:t>Tài sản còn lại: KG y khoa 52 nghìn entity + dây chuyền chạy được + 43 quy tắc vận hành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7548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>
                <a:solidFill>
                  <a:srgbClr val="FFFFFF"/>
                </a:solidFill>
                <a:latin typeface="Arial"/>
              </a:defRPr>
            </a:pPr>
            <a:r>
              <a:t>Không bịa số  •  Không chọn số đẹp  •  Không số tưởng tượng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