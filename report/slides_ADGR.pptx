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1/13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864"/>
                </a:solidFill>
                <a:latin typeface="Arial"/>
              </a:defRPr>
            </a:pPr>
            <a:r>
              <a:t>Tái hiện độc lập hệ thống ADGR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5B6"/>
                </a:solidFill>
                <a:latin typeface="Arial"/>
              </a:defRPr>
            </a:pPr>
            <a:r>
              <a:t>GraphRAG y khoa tiếng Việt: từ bài báo đến số liệu chạy thật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52.578 entity  •  106.279 relation  •  300 câu hỏi  •  8 bảng  •  11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Báo cáo chi tiết: report_vi.pdf  •  Mã nguồn + số liệu: github.com/ntd25022006q/adgr-reproduction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2/13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ADGR là gì? (3 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1. Tìm neo lai: vừa khớp chữ (BM25) vừa gần nghĩa (dense), cả hai cùng thấy thì cộng điểm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2. Lọc cạnh theo câu hỏi: mở rộng đồ thị có kiểm soát, không lôi cả xóm na ná vào gây nhiễu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3. Ngữ cảnh gọn mà trúng: ít token hơn 67% so với baseline mà điểm vẫn cao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Đóng góp của paper: framework ADGR + tài nguyên ViMedGraph công khai (1.932 tài liệu, 17.236 chunk)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3/13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Dựng lại toàn bộ = 7 khối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1. Corpus: tải 1.934 bài báo y khoa (5 link chết, cứu 4, ghi rõ)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2. Chunking: code H2 của tác giả → 15.837 chunk (91,9% paper)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15184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3. Knowledge graph: Qwen2.5-14B rút 52.578 entity / 106.279 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36976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4. Retrieval: 300 câu × 5 phiên bản (bản đủ + 4 bản tắt từng module)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5. Sinh câu trả lời: Qwen2.5-14B, temp 0 (cùng input → cùng 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6. Chấm điểm: Hit/MRR/nDCG + RAGAS + giám khảo AI 4 chiều × 5 lượt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0235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7. Tổng hợp: 8 bảng số + 11 hình + báo cáo (mọi số truy được file gốc)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4/13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Đồ thị tri thức: cùng tầm paper</a:t>
            </a:r>
          </a:p>
        </p:txBody>
      </p:sp>
      <p:pic>
        <p:nvPicPr>
          <p:cNvPr id="4" name="Picture 3" descr="fig_tab1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2915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52.578 entity / 106.279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(paper: 49.274 / 106.666)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E75B6"/>
                </a:solidFill>
                <a:latin typeface="Arial"/>
              </a:defRPr>
            </a:pPr>
            <a:r>
              <a:t>92–107%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Chất lượng: DSER 0,913 / SCR 0,884 / LCR 0,816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5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Hố duy nhất: LCR −9 điểm (chunk to ôm nhiều chủ đề rời)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5/13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Vì sao chunk to? Bằng chứng đo được</a:t>
            </a:r>
          </a:p>
        </p:txBody>
      </p:sp>
      <p:pic>
        <p:nvPicPr>
          <p:cNvPr id="4" name="Picture 3" descr="fig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3023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Mật độ trích ~9,4 lượt/chunk, gấp 3 lần paper (~2,9)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Máy trích không tham: chạy trên chunk kiểu tác giả thì khớp paper ngay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Kết luận: khác ở dữ liệu vào (chunk to), không ở thuật toán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6/13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Tìm kiếm: bám paper từ top-1 đến top-10</a:t>
            </a:r>
          </a:p>
        </p:txBody>
      </p:sp>
      <p:pic>
        <p:nvPicPr>
          <p:cNvPr id="4" name="Picture 3" descr="fig_tab3_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29654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E75B6"/>
                </a:solidFill>
                <a:latin typeface="Arial"/>
              </a:defRPr>
            </a:pPr>
            <a:r>
              <a:t>0,79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Hit@10 bản đủ: 0,79 / 0,68 (paper: 0,71)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Hit@1 yếu thật (0,43 vs 0,60) nhưng hội tụ từ Hit@5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Thứ tự lạ dense_only &gt; full là hệ quả toán học, đã chứng minh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7/13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Hố sâu nhất: mổ bằng thực nghiệm</a:t>
            </a:r>
          </a:p>
        </p:txBody>
      </p:sp>
      <p:pic>
        <p:nvPicPr>
          <p:cNvPr id="4" name="Picture 3" descr="fig_faith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29654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6459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E75B6"/>
                </a:solidFill>
                <a:latin typeface="Arial"/>
              </a:defRPr>
            </a:pPr>
            <a:r>
              <a:t>0,41 → 0,77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Câu ngắn khớp paper (0,89): máy nguyên vẹn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75% hố do chấm tắt 1 bước; còn lại do giám khảo khó hơn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Không bóp cách chấm cho số đẹp: đó là gian lận chỉ số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8/13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Thứ hạng giữ nguyên cả 2 prompt</a:t>
            </a:r>
          </a:p>
        </p:txBody>
      </p:sp>
      <p:pic>
        <p:nvPicPr>
          <p:cNvPr id="4" name="Picture 3" descr="fig_t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217920" cy="2798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ADGR 0,858 ≈ Mix 0,858 &gt; Hybrid 0,829 &gt; trả lời chay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79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Prompt gốc thấp hơn ~0,08 nhưng 0 đảo hạng trên 10 phương pháp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9/13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Case Aescin: gọn mà trúng</a:t>
            </a:r>
          </a:p>
        </p:txBody>
      </p:sp>
      <p:pic>
        <p:nvPicPr>
          <p:cNvPr id="4" name="Picture 3" descr="fig_tab8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2915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Hybrid lôi 139 relation, lẫn cả chống chỉ định của thuốc khác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(đúng khái niệm, sai thuốc — dễ gây hại)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ADGR chỉ giữ 3 relation cần; ta: 12–14 entity / 39–41 relation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10/13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864"/>
                </a:solidFill>
                <a:latin typeface="Arial"/>
              </a:defRPr>
            </a:pPr>
            <a:r>
              <a:t>Kết luận từng chỉ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2E75B6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2E75B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2E75B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KHỚP / GẦN / VƯỢT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GIẢI THÍCH ĐƯỢC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KHÔNG GIẢI THÍCH ĐƯỢC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Định nghĩa tái hiện thành công: không đòi số giống hệt, chỉ đòi chênh lệch nào cũng có nguyên nhân đã đo.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11/13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Khác paper ở đâu? Giới hạn nào?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595959"/>
                </a:solidFill>
                <a:latin typeface="Arial"/>
              </a:defRPr>
            </a:pPr>
            <a:r>
              <a:t>GIỐNG (paper Sec 5.1): Qwen2.5-14B, embeddinggemma, Qwen3-Reranker, vLLM, temp 0, chunker H2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595959"/>
                </a:solidFill>
                <a:latin typeface="Arial"/>
              </a:defRPr>
            </a:pPr>
            <a:r>
              <a:t>KHÁC: giám khảo solar thay GPT-5.5 • gold chấm tay thay bằng 2 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595959"/>
                </a:solidFill>
                <a:latin typeface="Arial"/>
              </a:defRPr>
            </a:pPr>
            <a:r>
              <a:t>7 standalone miễn phí (khác hẳn 7 model trả phí) • faithfulness chấm tắt 1 bước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595959"/>
                </a:solidFill>
                <a:latin typeface="Arial"/>
              </a:defRPr>
            </a:pPr>
            <a:r>
              <a:t>Giới hạn: LCR 0,82 (chunk to) • đồng thuận giám khảo κ 0,19 • thiếu top-K thích ứng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12/13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  <a:latin typeface="Arial"/>
              </a:defRPr>
            </a:pPr>
            <a:r>
              <a:t>Giai đoạn 2: 4 đề xuất (tổng ~15h GPU + ~$5)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1. Pipeline thích ứng theo câu hỏi (~4h + ~$1): câu dễ bỏ qua đồ thị, rẻ hơn ~10 lần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2. Trộn hạng thay vì xếp hạng đè (~3h): giữ cả hai tín hiệu, không cần sinh đáp án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3. Dừng khi đủ bằng chứng (~5h): thay top-K cố định — đúng hướng tác giả để ngỏ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4. Khống chế độ dài câu trả lời (~4h): câu ngắn đã khớp paper 0,89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95959"/>
                </a:solidFill>
                <a:latin typeface="Arial"/>
              </a:defRPr>
            </a:pPr>
            <a:r>
              <a:t>13/13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3864"/>
                </a:solidFill>
                <a:latin typeface="Arial"/>
              </a:defRPr>
            </a:pPr>
            <a: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  <a:latin typeface="Arial"/>
              </a:defRPr>
            </a:pPr>
            <a:r>
              <a:t>Đúng cơ chế, đúng thứ hạng, đúng hướng ablation — chênh lệch nào cũng có nguyên nhân đã đo.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Tài sản còn lại: KG y khoa 52 nghìn entity + dây chuyền chạy được + 43 quy tắc vận hành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  <a:latin typeface="Arial"/>
              </a:defRPr>
            </a:pPr>
            <a:r>
              <a:t>Không bịa số (GPU thật, đủ log) • không chọn số đẹp • không số tưởng tượng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